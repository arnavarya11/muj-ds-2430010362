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66760" y="411480"/>
            <a:ext cx="3017520" cy="3017520"/>
          </a:xfrm>
          <a:prstGeom prst="ellipse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960120"/>
            <a:ext cx="1920240" cy="1920240"/>
          </a:xfrm>
          <a:prstGeom prst="ellipse">
            <a:avLst/>
          </a:prstGeom>
          <a:solidFill>
            <a:srgbClr val="1B2D49"/>
          </a:solidFill>
          <a:ln w="15240">
            <a:solidFill>
              <a:srgbClr val="3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00032" y="1444752"/>
            <a:ext cx="950976" cy="950976"/>
          </a:xfrm>
          <a:prstGeom prst="ellipse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58200" y="4069080"/>
            <a:ext cx="2880360" cy="64008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9006840" y="3493008"/>
            <a:ext cx="1783080" cy="777240"/>
          </a:xfrm>
          <a:prstGeom prst="trapezoid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96528" y="4462272"/>
            <a:ext cx="566928" cy="566928"/>
          </a:xfrm>
          <a:prstGeom prst="ellipse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78440" y="4462272"/>
            <a:ext cx="566928" cy="566928"/>
          </a:xfrm>
          <a:prstGeom prst="ellipse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51976" y="4617720"/>
            <a:ext cx="256032" cy="256032"/>
          </a:xfrm>
          <a:prstGeom prst="ellipse">
            <a:avLst/>
          </a:prstGeom>
          <a:solidFill>
            <a:srgbClr val="ACB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33888" y="4617720"/>
            <a:ext cx="256032" cy="256032"/>
          </a:xfrm>
          <a:prstGeom prst="ellipse">
            <a:avLst/>
          </a:prstGeom>
          <a:solidFill>
            <a:srgbClr val="ACB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8368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CDCE6"/>
                </a:solidFill>
                <a:latin typeface="Aptos"/>
              </a:rPr>
              <a:t>BATCH F • 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325880"/>
            <a:ext cx="676656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8FF"/>
                </a:solidFill>
                <a:latin typeface="Aptos"/>
              </a:rPr>
              <a:t>Stanford Cars
Image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63240"/>
            <a:ext cx="6217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ACBED8"/>
                </a:solidFill>
                <a:latin typeface="Aptos"/>
              </a:rPr>
              <a:t>A deep learning workflow for recognizing car categories from 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096512"/>
            <a:ext cx="685800" cy="50292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407408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Arnav Arya  |  Reg. No. 2430010362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800600"/>
            <a:ext cx="5852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CBED8"/>
                </a:solidFill>
                <a:latin typeface="Aptos"/>
              </a:rPr>
              <a:t>B.Tech Computer Science Engineering • GitHub: arnavarya11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199632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AE4A"/>
                </a:solidFill>
                <a:latin typeface="Aptos"/>
              </a:rPr>
              <a:t>PROJECT STATUS: IMPLEMENTATION IN 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CDCE6"/>
                </a:solidFill>
                <a:latin typeface="Aptos"/>
              </a:rPr>
              <a:t>01 • 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914400" cy="411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CBED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CBED8"/>
                </a:solidFill>
                <a:latin typeface="Aptos"/>
              </a:rPr>
              <a:t>STANFORD CARS • DEEP LEARNING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3CDCE6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7548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5F8FF"/>
                </a:solidFill>
                <a:latin typeface="Aptos"/>
              </a:rPr>
              <a:t>Car images can look similar across makes, models and years. A model must learn useful visual features to distinguish categories reliably.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737360"/>
            <a:ext cx="5349240" cy="352044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29968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CDCE6"/>
                </a:solidFill>
                <a:latin typeface="Aptos"/>
              </a:rPr>
              <a:t>PROJECT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44805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Aptos"/>
              </a:rPr>
              <a:t>Build and evaluate an image-classification pipeline for the Stanford Cars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86200"/>
            <a:ext cx="4389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CBED8"/>
                </a:solidFill>
                <a:latin typeface="Aptos"/>
              </a:rPr>
              <a:t>Expected value: a reproducible workflow from data loading to measured model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77639"/>
            <a:ext cx="4937760" cy="1463040"/>
          </a:xfrm>
          <a:prstGeom prst="rect">
            <a:avLst/>
          </a:prstGeom>
          <a:noFill/>
        </p:spPr>
        <p:txBody>
          <a:bodyPr wrap="square" lIns="54864" rIns="45720" tIns="36576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•  Automate visual category prediction</a:t>
            </a:r>
          </a:p>
          <a:p>
            <a:pPr>
              <a:spcAft>
                <a:spcPts val="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•  Practice deep learning and evaluation</a:t>
            </a:r>
          </a:p>
          <a:p>
            <a:pPr>
              <a:spcAft>
                <a:spcPts val="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•  Document a repeatable experiment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CDCE6"/>
                </a:solidFill>
                <a:latin typeface="Aptos"/>
              </a:rPr>
              <a:t>02 •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Dataset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914400" cy="411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CBED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CBED8"/>
                </a:solidFill>
                <a:latin typeface="Aptos"/>
              </a:rPr>
              <a:t>STANFORD CARS • DEEP LEARNING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937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ACBED8"/>
                </a:solidFill>
                <a:latin typeface="Aptos"/>
              </a:rPr>
              <a:t>Dataset identifier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3CDCE6"/>
                </a:solidFill>
                <a:latin typeface="Aptos"/>
              </a:rPr>
              <a:t>mtb/StanfordCars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8463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5F8FF"/>
                </a:solidFill>
                <a:latin typeface="Aptos"/>
              </a:rPr>
              <a:t>Loaded in the notebook with Hugging Face Datasets. The visible notebook output reports image, label and id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828800"/>
            <a:ext cx="2331720" cy="160020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2103120"/>
            <a:ext cx="2011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CDCE6"/>
                </a:solidFill>
                <a:latin typeface="Aptos"/>
              </a:rPr>
              <a:t>8,144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74320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ACBED8"/>
                </a:solidFill>
                <a:latin typeface="Aptos"/>
              </a:rPr>
              <a:t>Training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828800"/>
            <a:ext cx="2331720" cy="160020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2103120"/>
            <a:ext cx="2011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AE4A"/>
                </a:solidFill>
                <a:latin typeface="Aptos"/>
              </a:rPr>
              <a:t>8,041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74320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ACBED8"/>
                </a:solidFill>
                <a:latin typeface="Aptos"/>
              </a:rPr>
              <a:t>Test 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886200"/>
            <a:ext cx="5029200" cy="1005840"/>
          </a:xfrm>
          <a:prstGeom prst="roundRect">
            <a:avLst/>
          </a:prstGeom>
          <a:solidFill>
            <a:srgbClr val="1B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11480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Features shown: image  •  label  • 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16636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ACBED8"/>
                </a:solidFill>
                <a:latin typeface="Aptos"/>
              </a:rPr>
              <a:t>Note: counts are taken from the notebook output shown; verify split names and dataset details before final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CDCE6"/>
                </a:solidFill>
                <a:latin typeface="Aptos"/>
              </a:rPr>
              <a:t>03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Tools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914400" cy="411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CBED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CBED8"/>
                </a:solidFill>
                <a:latin typeface="Aptos"/>
              </a:rPr>
              <a:t>STANFORD CARS • DEEP LEARNING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37560" cy="141732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417320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CDCE6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Notebook workflow and experiment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337560" cy="141732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73152" cy="141732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8424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C8DFF"/>
                </a:solidFill>
                <a:latin typeface="Aptos"/>
              </a:rPr>
              <a:t>PYTORCH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59152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Deep learning framework; CUDA GPU check is present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83080"/>
            <a:ext cx="3337560" cy="141732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783080"/>
            <a:ext cx="73152" cy="141732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98424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AE4A"/>
                </a:solidFill>
                <a:latin typeface="Aptos"/>
              </a:rPr>
              <a:t>HUGGING 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59152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Datasets loader for Stanford Cars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3337560" cy="141732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73152" cy="1417320"/>
          </a:xfrm>
          <a:prstGeom prst="rect">
            <a:avLst/>
          </a:prstGeom>
          <a:solidFill>
            <a:srgbClr val="63D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5876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3DDA8"/>
                </a:solidFill>
                <a:latin typeface="Aptos"/>
              </a:rPr>
              <a:t>TRANSFORMERS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33672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Installed in the notebook environment for model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657600"/>
            <a:ext cx="3337560" cy="141732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657600"/>
            <a:ext cx="73152" cy="1417320"/>
          </a:xfrm>
          <a:prstGeom prst="rect">
            <a:avLst/>
          </a:prstGeom>
          <a:solidFill>
            <a:srgbClr val="FF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85876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7382"/>
                </a:solidFill>
                <a:latin typeface="Aptos"/>
              </a:rPr>
              <a:t>SCIKIT-LEARN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233672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Installed for evaluation utilities and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1500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CBED8"/>
                </a:solidFill>
                <a:latin typeface="Aptos"/>
              </a:rPr>
              <a:t>Notebook environment: Google Colab • GPU output shown: Tesla T4 • PyTorch 2.11.0+cu130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CDCE6"/>
                </a:solidFill>
                <a:latin typeface="Aptos"/>
              </a:rPr>
              <a:t>04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Proposed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914400" cy="411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CBED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CBED8"/>
                </a:solidFill>
                <a:latin typeface="Aptos"/>
              </a:rPr>
              <a:t>STANFORD CARS • DEEP LEARNING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965960" cy="1828800"/>
          </a:xfrm>
          <a:prstGeom prst="roundRect">
            <a:avLst/>
          </a:prstGeom>
          <a:solidFill>
            <a:srgbClr val="14233D"/>
          </a:solidFill>
          <a:ln w="15240">
            <a:solidFill>
              <a:srgbClr val="3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1965960"/>
            <a:ext cx="530352" cy="530352"/>
          </a:xfrm>
          <a:prstGeom prst="ellipse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2057400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D172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43200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Load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91840"/>
            <a:ext cx="1645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CBED8"/>
                </a:solidFill>
                <a:latin typeface="Aptos"/>
              </a:rPr>
              <a:t>Hugging Face dataset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3200400"/>
            <a:ext cx="301752" cy="0"/>
          </a:xfrm>
          <a:prstGeom prst="line">
            <a:avLst/>
          </a:prstGeom>
          <a:ln w="25400">
            <a:solidFill>
              <a:srgbClr val="3C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79" y="2331720"/>
            <a:ext cx="1965960" cy="182880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311" y="1965960"/>
            <a:ext cx="530352" cy="530352"/>
          </a:xfrm>
          <a:prstGeom prst="ellipse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1" y="2057400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D172A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43200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Inspect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291840"/>
            <a:ext cx="1645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CBED8"/>
                </a:solidFill>
                <a:latin typeface="Aptos"/>
              </a:rPr>
              <a:t>Review splits &amp; classes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2040" y="3200400"/>
            <a:ext cx="301752" cy="0"/>
          </a:xfrm>
          <a:prstGeom prst="line">
            <a:avLst/>
          </a:prstGeom>
          <a:ln w="25400">
            <a:solidFill>
              <a:srgbClr val="3C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57800" y="2331720"/>
            <a:ext cx="1965960" cy="182880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71032" y="1965960"/>
            <a:ext cx="530352" cy="530352"/>
          </a:xfrm>
          <a:prstGeom prst="ellipse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057400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D172A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743200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Preprocess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3291840"/>
            <a:ext cx="1645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CBED8"/>
                </a:solidFill>
                <a:latin typeface="Aptos"/>
              </a:rPr>
              <a:t>Resize / normalize images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23760" y="3200400"/>
            <a:ext cx="301752" cy="0"/>
          </a:xfrm>
          <a:prstGeom prst="line">
            <a:avLst/>
          </a:prstGeom>
          <a:ln w="25400">
            <a:solidFill>
              <a:srgbClr val="3C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89519" y="2331720"/>
            <a:ext cx="1965960" cy="182880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2751" y="1965960"/>
            <a:ext cx="530352" cy="530352"/>
          </a:xfrm>
          <a:prstGeom prst="ellipse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1" y="2057400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D172A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1" y="2743200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Train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1" y="3291840"/>
            <a:ext cx="1645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CBED8"/>
                </a:solidFill>
                <a:latin typeface="Aptos"/>
              </a:rPr>
              <a:t>Learn visual features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200400"/>
            <a:ext cx="301752" cy="0"/>
          </a:xfrm>
          <a:prstGeom prst="line">
            <a:avLst/>
          </a:prstGeom>
          <a:ln w="25400">
            <a:solidFill>
              <a:srgbClr val="3C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21240" y="2331720"/>
            <a:ext cx="1965960" cy="182880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34472" y="1965960"/>
            <a:ext cx="530352" cy="530352"/>
          </a:xfrm>
          <a:prstGeom prst="ellipse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34472" y="2057400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D172A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2743200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Evaluate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3291840"/>
            <a:ext cx="1645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CBED8"/>
                </a:solidFill>
                <a:latin typeface="Aptos"/>
              </a:rPr>
              <a:t>Accuracy &amp; error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92040"/>
            <a:ext cx="10424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ACBED8"/>
                </a:solidFill>
                <a:latin typeface="Aptos"/>
              </a:rPr>
              <a:t>This workflow is the planned experiment path. Final preprocessing, architecture and training settings should match the implemented notebook.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CDCE6"/>
                </a:solidFill>
                <a:latin typeface="Aptos"/>
              </a:rPr>
              <a:t>05 • MODEL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Model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914400" cy="411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CBED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CBED8"/>
                </a:solidFill>
                <a:latin typeface="Aptos"/>
              </a:rPr>
              <a:t>STANFORD CARS • DEEP LEARNING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4937760" cy="356616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CDCE6"/>
                </a:solidFill>
                <a:latin typeface="Aptos"/>
              </a:rPr>
              <a:t>INPUT → LEARNED FEATURES →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743200"/>
            <a:ext cx="457200" cy="4572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91640" y="2743200"/>
            <a:ext cx="457200" cy="457200"/>
          </a:xfrm>
          <a:prstGeom prst="round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743200"/>
            <a:ext cx="457200" cy="457200"/>
          </a:xfrm>
          <a:prstGeom prst="round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337560"/>
            <a:ext cx="457200" cy="457200"/>
          </a:xfrm>
          <a:prstGeom prst="roundRect">
            <a:avLst/>
          </a:prstGeom>
          <a:solidFill>
            <a:srgbClr val="63D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91640" y="3337560"/>
            <a:ext cx="457200" cy="457200"/>
          </a:xfrm>
          <a:prstGeom prst="roundRect">
            <a:avLst/>
          </a:prstGeom>
          <a:solidFill>
            <a:srgbClr val="FF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3337560"/>
            <a:ext cx="457200" cy="4572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743200"/>
            <a:ext cx="1920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Image tensor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2004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CBED8"/>
                </a:solidFill>
                <a:latin typeface="Aptos"/>
              </a:rPr>
              <a:t>Resize / normalize
(as implemented)</a:t>
            </a:r>
          </a:p>
        </p:txBody>
      </p:sp>
      <p:sp>
        <p:nvSpPr>
          <p:cNvPr id="17" name="Chevron 16"/>
          <p:cNvSpPr/>
          <p:nvPr/>
        </p:nvSpPr>
        <p:spPr>
          <a:xfrm>
            <a:off x="2377440" y="4160520"/>
            <a:ext cx="1097280" cy="411480"/>
          </a:xfrm>
          <a:prstGeom prst="chevron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Classifier outputs a predicted car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CDCE6"/>
                </a:solidFill>
                <a:latin typeface="Aptos"/>
              </a:rPr>
              <a:t>Implementation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423160"/>
            <a:ext cx="4937760" cy="2468880"/>
          </a:xfrm>
          <a:prstGeom prst="rect">
            <a:avLst/>
          </a:prstGeom>
          <a:noFill/>
        </p:spPr>
        <p:txBody>
          <a:bodyPr wrap="square" lIns="54864" rIns="45720" tIns="36576" bIns="36576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•  The notebook imports PyTorch and checks CUDA availability.</a:t>
            </a:r>
          </a:p>
          <a:p>
            <a:pPr>
              <a:spcAft>
                <a:spcPts val="14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•  A Tesla T4 GPU was reported by the shown runtime output.</a:t>
            </a:r>
          </a:p>
          <a:p>
            <a:pPr>
              <a:spcAft>
                <a:spcPts val="14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•  The specific model architecture and training results should be confirmed from later notebook cells.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074920"/>
            <a:ext cx="4846320" cy="594360"/>
          </a:xfrm>
          <a:prstGeom prst="roundRect">
            <a:avLst/>
          </a:prstGeom>
          <a:solidFill>
            <a:srgbClr val="1B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30368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AE4A"/>
                </a:solidFill>
                <a:latin typeface="Aptos"/>
              </a:rPr>
              <a:t>No accuracy value is claimed in this 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CDCE6"/>
                </a:solidFill>
                <a:latin typeface="Aptos"/>
              </a:rPr>
              <a:t>06 •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Evaluation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914400" cy="411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CBED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CBED8"/>
                </a:solidFill>
                <a:latin typeface="Aptos"/>
              </a:rPr>
              <a:t>STANFORD CARS • DEEP LEARNING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4892040" cy="786384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01952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CDCE6"/>
                </a:solidFill>
                <a:latin typeface="Aptos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01952"/>
            <a:ext cx="2651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Overall fraction of correct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07208"/>
            <a:ext cx="4892040" cy="786384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CDCE6"/>
                </a:solidFill>
                <a:latin typeface="Aptos"/>
              </a:rPr>
              <a:t>Per-class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26080"/>
            <a:ext cx="2651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Check whether some car categories are harder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31336"/>
            <a:ext cx="4892040" cy="786384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50208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CDCE6"/>
                </a:solidFill>
                <a:latin typeface="Aptos"/>
              </a:rPr>
              <a:t>Confusion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50208"/>
            <a:ext cx="2651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Inspect patterns in class-to-class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55464"/>
            <a:ext cx="4892040" cy="786384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74336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CDCE6"/>
                </a:solidFill>
                <a:latin typeface="Aptos"/>
              </a:rPr>
              <a:t>Error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974336"/>
            <a:ext cx="2651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Review misclassified examples and image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74519"/>
            <a:ext cx="4846320" cy="3017520"/>
          </a:xfrm>
          <a:prstGeom prst="roundRect">
            <a:avLst/>
          </a:prstGeom>
          <a:solidFill>
            <a:srgbClr val="1B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5F8FF"/>
                </a:solidFill>
                <a:latin typeface="Aptos"/>
              </a:rPr>
              <a:t>Results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41605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AE4A"/>
                </a:solidFill>
                <a:latin typeface="Aptos"/>
              </a:rPr>
              <a:t>To be measured and recorded after model training and evaluation are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069080"/>
            <a:ext cx="4160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CBED8"/>
                </a:solidFill>
                <a:latin typeface="Aptos"/>
              </a:rPr>
              <a:t>Do not report unverified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CDCE6"/>
                </a:solidFill>
                <a:latin typeface="Aptos"/>
              </a:rPr>
              <a:t>07 • 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Current Progress &amp;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914400" cy="411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CBED8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CBED8"/>
                </a:solidFill>
                <a:latin typeface="Aptos"/>
              </a:rPr>
              <a:t>STANFORD CARS • DEEP LEARNING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515600" cy="713232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1938528"/>
            <a:ext cx="1417320" cy="384048"/>
          </a:xfrm>
          <a:prstGeom prst="roundRect">
            <a:avLst/>
          </a:prstGeom>
          <a:solidFill>
            <a:srgbClr val="63D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D172A"/>
                </a:solidFill>
                <a:latin typeface="Aptos"/>
              </a:rPr>
              <a:t>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938528"/>
            <a:ext cx="8138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5F8FF"/>
                </a:solidFill>
                <a:latin typeface="Aptos"/>
              </a:rPr>
              <a:t>Notebook uploaded to public GitHub 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10515600" cy="713232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2898648"/>
            <a:ext cx="1417320" cy="384048"/>
          </a:xfrm>
          <a:prstGeom prst="roundRect">
            <a:avLst/>
          </a:prstGeom>
          <a:solidFill>
            <a:srgbClr val="63D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95351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D172A"/>
                </a:solidFill>
                <a:latin typeface="Aptos"/>
              </a:rPr>
              <a:t>CONFIRMED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898648"/>
            <a:ext cx="8138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5F8FF"/>
                </a:solidFill>
                <a:latin typeface="Aptos"/>
              </a:rPr>
              <a:t>Dataset loader and split counts appear in notebook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0515600" cy="713232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858768"/>
            <a:ext cx="1417320" cy="384048"/>
          </a:xfrm>
          <a:prstGeom prst="roundRect">
            <a:avLst/>
          </a:prstGeom>
          <a:solidFill>
            <a:srgbClr val="63D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91363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D172A"/>
                </a:solidFill>
                <a:latin typeface="Aptos"/>
              </a:rPr>
              <a:t>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858768"/>
            <a:ext cx="8138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5F8FF"/>
                </a:solidFill>
                <a:latin typeface="Aptos"/>
              </a:rPr>
              <a:t>PyTorch CUDA check reports Tesla T4 in shown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63440"/>
            <a:ext cx="10515600" cy="713232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" y="4818888"/>
            <a:ext cx="1417320" cy="384048"/>
          </a:xfrm>
          <a:prstGeom prst="round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87375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D172A"/>
                </a:solidFill>
                <a:latin typeface="Aptos"/>
              </a:rPr>
              <a:t>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818888"/>
            <a:ext cx="8138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5F8FF"/>
                </a:solidFill>
                <a:latin typeface="Aptos"/>
              </a:rPr>
              <a:t>Model training, evaluation metrics and result screenshots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CDCE6"/>
                </a:solidFill>
                <a:latin typeface="Aptos"/>
              </a:rPr>
              <a:t>Repository: github.com/arnavarya11/MUJ-DS-2430010362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CDCE6"/>
                </a:solidFill>
                <a:latin typeface="Aptos"/>
              </a:rPr>
              <a:t>08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914400" cy="411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CBED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CBED8"/>
                </a:solidFill>
                <a:latin typeface="Aptos"/>
              </a:rPr>
              <a:t>STANFORD CARS • DEEP LEARNING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29200" cy="361188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AE4A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4389120" cy="2286000"/>
          </a:xfrm>
          <a:prstGeom prst="rect">
            <a:avLst/>
          </a:prstGeom>
          <a:noFill/>
        </p:spPr>
        <p:txBody>
          <a:bodyPr wrap="square" lIns="54864" rIns="45720" tIns="36576" bIns="36576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Final architecture and hyperparameters are not confirmed here.</a:t>
            </a:r>
          </a:p>
          <a:p>
            <a:pPr>
              <a:spcAft>
                <a:spcPts val="13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No validated accuracy or comparison results are available yet.</a:t>
            </a:r>
          </a:p>
          <a:p>
            <a:pPr>
              <a:spcAft>
                <a:spcPts val="13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Class-wise errors still need inspection.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029200" cy="361188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CDCE6"/>
                </a:solidFill>
                <a:latin typeface="Aptos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4389120" cy="2286000"/>
          </a:xfrm>
          <a:prstGeom prst="rect">
            <a:avLst/>
          </a:prstGeom>
          <a:noFill/>
        </p:spPr>
        <p:txBody>
          <a:bodyPr wrap="square" lIns="54864" rIns="45720" tIns="36576" bIns="36576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Complete training and evaluation in the notebook.</a:t>
            </a:r>
          </a:p>
          <a:p>
            <a:pPr>
              <a:spcAft>
                <a:spcPts val="13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Record reproducible metrics and save result plots.</a:t>
            </a:r>
          </a:p>
          <a:p>
            <a:pPr>
              <a:spcAft>
                <a:spcPts val="13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Add presentation, installation guide and screenshots to GitHub.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CDCE6"/>
                </a:solidFill>
                <a:latin typeface="Aptos"/>
              </a:rPr>
              <a:t>09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315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5F8FF"/>
                </a:solidFill>
                <a:latin typeface="Aptos"/>
              </a:rPr>
              <a:t>From images to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64922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ACBED8"/>
                </a:solidFill>
                <a:latin typeface="Aptos"/>
              </a:rPr>
              <a:t>The project establishes a starting point for a reproducible deep learning pipeline using the Stanford Cars dataset. The next milestone is to train, evaluate and document the model with verified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508760"/>
            <a:ext cx="3246120" cy="3154680"/>
          </a:xfrm>
          <a:prstGeom prst="round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1874519"/>
            <a:ext cx="2651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3CDCE6"/>
                </a:solidFill>
                <a:latin typeface="Aptos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8732520" y="2514600"/>
            <a:ext cx="1737360" cy="4572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834640"/>
            <a:ext cx="2697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5F8FF"/>
                </a:solidFill>
                <a:latin typeface="Apto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6217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Arnav Arya • 2430010362 • Batch 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CDCE6"/>
                </a:solidFill>
                <a:latin typeface="Aptos"/>
              </a:rPr>
              <a:t>GitHub: github.com/arnavarya11/MUJ-DS-2430010362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AE4A"/>
                </a:solidFill>
                <a:latin typeface="Aptos"/>
              </a:rPr>
              <a:t>Presentation note: update this deck after the model's actual results are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